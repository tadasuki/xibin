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823" r:id="rId1"/>
  </p:sldMasterIdLst>
  <p:notesMasterIdLst>
    <p:notesMasterId r:id="rId2"/>
  </p:notesMasterIdLst>
  <p:sldIdLst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95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 smtClean="0"/>
              <a:t>单击此处编辑母版副标题样式</a:t>
            </a:r>
            <a:endParaRPr dirty="0" lang="en-US"/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36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0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03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44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4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1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25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en-US" lang="zh-CN" smtClean="0"/>
              <a:t>单击图标添加图片</a:t>
            </a:r>
            <a:endParaRPr dirty="0" lang="en-US"/>
          </a:p>
        </p:txBody>
      </p:sp>
      <p:sp>
        <p:nvSpPr>
          <p:cNvPr id="104862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2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3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62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6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 smtClean="0"/>
              <a:t>单击此处编辑母版标题样式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altLang="en-US" lang="zh-CN"/>
              <a:t>脱贫攻坚</a:t>
            </a:r>
            <a:r>
              <a:rPr altLang="en-US" lang="zh-CN"/>
              <a:t>战</a:t>
            </a:r>
            <a:r>
              <a:rPr altLang="en-US" lang="zh-CN"/>
              <a:t>的</a:t>
            </a:r>
            <a:r>
              <a:rPr altLang="en-US" lang="zh-CN"/>
              <a:t>全面</a:t>
            </a:r>
            <a:r>
              <a:rPr altLang="en-US" lang="zh-CN"/>
              <a:t>胜利</a:t>
            </a:r>
            <a:endParaRPr altLang="en-US" lang="zh-CN"/>
          </a:p>
        </p:txBody>
      </p:sp>
      <p:sp>
        <p:nvSpPr>
          <p:cNvPr id="1048600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altLang="en-US" lang="zh-CN"/>
              <a:t>中国</a:t>
            </a:r>
            <a:r>
              <a:rPr altLang="en-US" lang="zh-CN"/>
              <a:t>共产党</a:t>
            </a:r>
            <a:r>
              <a:rPr altLang="en-US" lang="zh-CN"/>
              <a:t>领导下的</a:t>
            </a:r>
            <a:r>
              <a:rPr altLang="en-US" lang="zh-CN"/>
              <a:t>重大</a:t>
            </a:r>
            <a:r>
              <a:rPr altLang="en-US" lang="zh-CN"/>
              <a:t>历史飞跃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目录</a:t>
            </a:r>
            <a:endParaRPr lang="zh-CN"/>
          </a:p>
        </p:txBody>
      </p:sp>
      <p:sp>
        <p:nvSpPr>
          <p:cNvPr id="1048608" name=""/>
          <p:cNvSpPr>
            <a:spLocks noGrp="1"/>
          </p:cNvSpPr>
          <p:nvPr>
            <p:ph sz="half" idx="1"/>
          </p:nvPr>
        </p:nvSpPr>
        <p:spPr>
          <a:xfrm>
            <a:off x="838200" y="1728792"/>
            <a:ext cx="10113326" cy="4448171"/>
          </a:xfrm>
        </p:spPr>
        <p:txBody>
          <a:bodyPr>
            <a:normAutofit/>
          </a:bodyPr>
          <a:p>
            <a:r>
              <a:rPr altLang="zh-CN" lang="en-US"/>
              <a:t>1. 脱贫攻坚战的背景与意义  </a:t>
            </a:r>
            <a:endParaRPr lang="zh-CN"/>
          </a:p>
          <a:p>
            <a:r>
              <a:rPr altLang="zh-CN" lang="en-US"/>
              <a:t>2. 核心成果：消除绝对贫困  </a:t>
            </a:r>
            <a:endParaRPr lang="zh-CN"/>
          </a:p>
          <a:p>
            <a:r>
              <a:rPr altLang="zh-CN" lang="en-US"/>
              <a:t>3. 实施路径：精准施策与创新机制  </a:t>
            </a:r>
            <a:endParaRPr lang="zh-CN"/>
          </a:p>
          <a:p>
            <a:r>
              <a:rPr altLang="zh-CN" lang="en-US"/>
              <a:t>4. 政策创新：兜底保障与产业赋能  </a:t>
            </a:r>
            <a:endParaRPr lang="zh-CN"/>
          </a:p>
          <a:p>
            <a:r>
              <a:rPr altLang="zh-CN" lang="en-US"/>
              <a:t>5. 社会参与：多方联动助力脱贫  </a:t>
            </a:r>
            <a:endParaRPr lang="zh-CN"/>
          </a:p>
          <a:p>
            <a:r>
              <a:rPr altLang="zh-CN" lang="en-US"/>
              <a:t>6. 长期影响：乡村振兴的坚实基础  </a:t>
            </a:r>
            <a:endParaRPr lang="zh-CN"/>
          </a:p>
          <a:p>
            <a:r>
              <a:rPr altLang="zh-CN" lang="en-US"/>
              <a:t>7. 总结与展望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脱贫攻坚战</a:t>
            </a:r>
            <a:r>
              <a:rPr lang="zh-CN"/>
              <a:t>的</a:t>
            </a:r>
            <a:r>
              <a:rPr lang="zh-CN"/>
              <a:t>背景</a:t>
            </a:r>
            <a:r>
              <a:rPr lang="zh-CN"/>
              <a:t>与</a:t>
            </a:r>
            <a:r>
              <a:rPr lang="zh-CN"/>
              <a:t>意义</a:t>
            </a:r>
            <a:endParaRPr lang="zh-CN"/>
          </a:p>
        </p:txBody>
      </p:sp>
      <p:sp>
        <p:nvSpPr>
          <p:cNvPr id="1048610" name="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lang="zh-CN"/>
              <a:t>历史背景：2013年提出精准扶贫，2020年消除绝对贫困，2021-2025年为巩固拓展脱贫攻坚成果同乡村振兴衔接的5年过渡期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政策目标：实现“两不愁、三保障”（不愁吃穿，义务教育、基本医疗、住房安全有保障）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全球意义：中国对全球减贫贡献率超过70%，创造了人类减贫史上的奇迹。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核心成果</a:t>
            </a:r>
            <a:r>
              <a:rPr lang="zh-CN"/>
              <a:t>——</a:t>
            </a:r>
            <a:r>
              <a:rPr lang="zh-CN"/>
              <a:t>消除</a:t>
            </a:r>
            <a:r>
              <a:rPr lang="zh-CN"/>
              <a:t>绝对贫困</a:t>
            </a:r>
            <a:endParaRPr lang="zh-CN"/>
          </a:p>
        </p:txBody>
      </p:sp>
      <p:sp>
        <p:nvSpPr>
          <p:cNvPr id="1048612" name="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indent="0" marL="0">
              <a:buNone/>
            </a:pPr>
            <a:r>
              <a:rPr lang="zh-CN"/>
              <a:t>截至2024年11月，全国累计帮扶534万名防止返贫监测对象稳定消除风险。</a:t>
            </a:r>
            <a:endParaRPr lang="zh-CN"/>
          </a:p>
          <a:p>
            <a:pPr indent="0" marL="0">
              <a:buNone/>
            </a:pPr>
            <a:r>
              <a:rPr lang="zh-CN"/>
              <a:t>832个脱贫县形成2-3个主导产业，总产值超1.7万亿元，带动近3/4脱贫人口增收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脱贫劳动力务工规模连续4年超3000万人，2024年达3305万人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脱贫县农民人均可支配收入12384元，实际增长6.5%（2024年前三季度）。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实施</a:t>
            </a:r>
            <a:r>
              <a:rPr lang="zh-CN"/>
              <a:t>路径</a:t>
            </a:r>
            <a:r>
              <a:rPr lang="zh-CN"/>
              <a:t>——</a:t>
            </a:r>
            <a:r>
              <a:rPr lang="zh-CN"/>
              <a:t>精准</a:t>
            </a:r>
            <a:r>
              <a:rPr lang="zh-CN"/>
              <a:t>施</a:t>
            </a:r>
            <a:r>
              <a:rPr lang="zh-CN"/>
              <a:t>策</a:t>
            </a:r>
            <a:r>
              <a:rPr lang="zh-CN"/>
              <a:t>与</a:t>
            </a:r>
            <a:r>
              <a:rPr lang="zh-CN"/>
              <a:t>创新机制</a:t>
            </a:r>
            <a:endParaRPr lang="zh-CN"/>
          </a:p>
        </p:txBody>
      </p:sp>
      <p:sp>
        <p:nvSpPr>
          <p:cNvPr id="1048614" name=""/>
          <p:cNvSpPr>
            <a:spLocks noGrp="1"/>
          </p:cNvSpPr>
          <p:nvPr>
            <p:ph idx="1"/>
          </p:nvPr>
        </p:nvSpPr>
        <p:spPr/>
        <p:txBody>
          <a:bodyPr>
            <a:normAutofit fontScale="100000" lnSpcReduction="10000"/>
          </a:bodyPr>
          <a:p>
            <a:pPr indent="0" marL="0">
              <a:buNone/>
            </a:pPr>
            <a:r>
              <a:rPr lang="zh-CN"/>
              <a:t>精准识别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运用大数据平台，结合农户申报、基层走访筛查，识别贫困人口。</a:t>
            </a:r>
            <a:endParaRPr lang="zh-CN"/>
          </a:p>
          <a:p>
            <a:pPr indent="0" marL="0">
              <a:buNone/>
            </a:pPr>
            <a:r>
              <a:rPr lang="zh-CN"/>
              <a:t>“七步程序法”确保识别透明公正，杜绝“漏评”“错评”。</a:t>
            </a:r>
            <a:endParaRPr lang="zh-CN"/>
          </a:p>
          <a:p>
            <a:pPr indent="0" marL="0">
              <a:buNone/>
            </a:pPr>
            <a:r>
              <a:rPr lang="zh-CN"/>
              <a:t>动态监测：建立覆盖农村人口的监测帮扶系统，风险消除时间缩短至15天内。</a:t>
            </a:r>
            <a:endParaRPr lang="zh-CN"/>
          </a:p>
          <a:p>
            <a:pPr indent="0" marL="0">
              <a:buNone/>
            </a:pPr>
            <a:r>
              <a:rPr lang="zh-CN"/>
              <a:t>分类帮扶</a:t>
            </a:r>
            <a:r>
              <a:rPr altLang="zh-CN" lang="zh-CN"/>
              <a:t>：</a:t>
            </a:r>
            <a:r>
              <a:rPr lang="zh-CN"/>
              <a:t>因人因户施策，如就业培训、易地搬迁、生态补偿等。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政策创新</a:t>
            </a:r>
            <a:r>
              <a:rPr lang="zh-CN"/>
              <a:t>——</a:t>
            </a:r>
            <a:r>
              <a:rPr lang="zh-CN"/>
              <a:t>兜底</a:t>
            </a:r>
            <a:r>
              <a:rPr lang="zh-CN"/>
              <a:t>保障</a:t>
            </a:r>
            <a:r>
              <a:rPr lang="zh-CN"/>
              <a:t>与</a:t>
            </a:r>
            <a:r>
              <a:rPr lang="zh-CN"/>
              <a:t>产业赋能</a:t>
            </a:r>
            <a:endParaRPr lang="zh-CN"/>
          </a:p>
        </p:txBody>
      </p:sp>
      <p:sp>
        <p:nvSpPr>
          <p:cNvPr id="1048593" name=""/>
          <p:cNvSpPr>
            <a:spLocks noGrp="1"/>
          </p:cNvSpPr>
          <p:nvPr>
            <p:ph idx="1"/>
          </p:nvPr>
        </p:nvSpPr>
        <p:spPr/>
        <p:txBody>
          <a:bodyPr>
            <a:normAutofit fontScale="100000" lnSpcReduction="10000"/>
          </a:bodyPr>
          <a:p>
            <a:pPr indent="0" marL="0">
              <a:buNone/>
            </a:pPr>
            <a:r>
              <a:rPr lang="zh-CN"/>
              <a:t>兜底保障政策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医疗费用县域内100%报销，教育补贴覆盖从小学到大学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危房改造补贴优先覆盖贫困家庭，惠及数百万农户。</a:t>
            </a:r>
            <a:endParaRPr lang="zh-CN"/>
          </a:p>
          <a:p>
            <a:pPr indent="0" marL="0">
              <a:buNone/>
            </a:pPr>
            <a:r>
              <a:rPr lang="zh-CN"/>
              <a:t>产业赋能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发展特色农业、乡村旅游，打造“一县一业”模式（如陕西洛川苹果、广西螺蛳粉）。</a:t>
            </a:r>
            <a:endParaRPr lang="zh-CN"/>
          </a:p>
          <a:p>
            <a:pPr indent="0" marL="0">
              <a:buNone/>
            </a:pPr>
            <a:r>
              <a:rPr lang="zh-CN"/>
              <a:t>建立联农带农机制，75%脱贫人口与新型经营主体利益联结。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社会</a:t>
            </a:r>
            <a:r>
              <a:rPr lang="zh-CN"/>
              <a:t>参与</a:t>
            </a:r>
            <a:r>
              <a:rPr lang="zh-CN"/>
              <a:t>——</a:t>
            </a:r>
            <a:r>
              <a:rPr lang="zh-CN"/>
              <a:t>多方联动</a:t>
            </a:r>
            <a:r>
              <a:rPr lang="zh-CN"/>
              <a:t>助力</a:t>
            </a:r>
            <a:r>
              <a:rPr lang="zh-CN"/>
              <a:t>脱贫</a:t>
            </a:r>
            <a:endParaRPr lang="zh-CN"/>
          </a:p>
        </p:txBody>
      </p:sp>
      <p:sp>
        <p:nvSpPr>
          <p:cNvPr id="1048591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lang="zh-CN"/>
              <a:t>企业参与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“万企兴万村”行动，超10万家企业结对帮扶脱贫村。</a:t>
            </a:r>
            <a:endParaRPr lang="zh-CN"/>
          </a:p>
          <a:p>
            <a:pPr indent="0" marL="0">
              <a:buNone/>
            </a:pPr>
            <a:r>
              <a:rPr lang="zh-CN"/>
              <a:t>东西部协作提供资金、技术、市场支持（如广东对口帮扶贵州）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社会组织与个人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公益组织提供教育、医疗援助，志愿者开展技能培训</a:t>
            </a:r>
            <a:r>
              <a:rPr lang="zh-CN"/>
              <a:t>。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长期影响</a:t>
            </a:r>
            <a:r>
              <a:rPr lang="zh-CN"/>
              <a:t>——</a:t>
            </a:r>
            <a:r>
              <a:rPr lang="zh-CN"/>
              <a:t>乡村振兴</a:t>
            </a:r>
            <a:r>
              <a:rPr lang="zh-CN"/>
              <a:t>的</a:t>
            </a:r>
            <a:r>
              <a:rPr lang="zh-CN"/>
              <a:t>坚实基础</a:t>
            </a:r>
            <a:endParaRPr lang="zh-CN"/>
          </a:p>
        </p:txBody>
      </p:sp>
      <p:sp>
        <p:nvSpPr>
          <p:cNvPr id="1048589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lang="zh-CN"/>
              <a:t>经济效应</a:t>
            </a:r>
            <a:r>
              <a:rPr lang="zh-CN"/>
              <a:t>：</a:t>
            </a:r>
            <a:r>
              <a:rPr lang="zh-CN"/>
              <a:t>脱贫地区农村居民人均可支配收入达23119元（2024年），增速连续4年超全国平均水平。</a:t>
            </a:r>
            <a:endParaRPr lang="zh-CN"/>
          </a:p>
          <a:p>
            <a:pPr indent="0" marL="0">
              <a:buNone/>
            </a:pPr>
            <a:r>
              <a:rPr lang="zh-CN"/>
              <a:t>社会效应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卫生厕所普及率75%，生活垃圾处理率超90%。</a:t>
            </a:r>
            <a:endParaRPr lang="zh-CN"/>
          </a:p>
          <a:p>
            <a:pPr indent="0" marL="0">
              <a:buNone/>
            </a:pPr>
            <a:r>
              <a:rPr lang="zh-CN"/>
              <a:t>教育、医疗公共服务水平显著提升，阻断贫困代际传递。</a:t>
            </a:r>
            <a:endParaRPr lang="zh-CN"/>
          </a:p>
          <a:p>
            <a:pPr indent="0" marL="0">
              <a:buNone/>
            </a:pPr>
            <a:r>
              <a:rPr lang="zh-CN"/>
              <a:t>生态与治理：绿色农业、生态补偿项目促进可持续发展</a:t>
            </a:r>
            <a:r>
              <a:rPr lang="zh-CN"/>
              <a:t>。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总结</a:t>
            </a:r>
            <a:r>
              <a:rPr lang="zh-CN"/>
              <a:t>与</a:t>
            </a:r>
            <a:r>
              <a:rPr lang="zh-CN"/>
              <a:t>展望</a:t>
            </a:r>
            <a:endParaRPr lang="zh-CN"/>
          </a:p>
        </p:txBody>
      </p:sp>
      <p:sp>
        <p:nvSpPr>
          <p:cNvPr id="1048587" name="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lang="zh-CN"/>
              <a:t>成就总结</a:t>
            </a:r>
            <a:r>
              <a:rPr lang="zh-CN"/>
              <a:t>：</a:t>
            </a:r>
            <a:r>
              <a:rPr lang="zh-CN"/>
              <a:t>中国历史性解决绝对贫困问题，为全球减贫提供范例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未来方向</a:t>
            </a:r>
            <a:r>
              <a:rPr lang="zh-CN"/>
              <a:t>：</a:t>
            </a:r>
            <a:endParaRPr lang="zh-CN"/>
          </a:p>
          <a:p>
            <a:pPr indent="0" marL="0">
              <a:buNone/>
            </a:pPr>
            <a:r>
              <a:rPr lang="zh-CN"/>
              <a:t>2025年后转向常态化帮扶，聚焦防止规模性返贫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推动城乡融合，实现共同富裕目标</a:t>
            </a:r>
            <a:r>
              <a:rPr lang="zh-CN"/>
              <a:t>。</a:t>
            </a:r>
            <a:endParaRPr lang="zh-CN"/>
          </a:p>
          <a:p>
            <a:pPr indent="0" marL="0">
              <a:buNone/>
            </a:pPr>
            <a:r>
              <a:rPr lang="zh-CN"/>
              <a:t>结束语</a:t>
            </a:r>
            <a:r>
              <a:rPr lang="zh-CN"/>
              <a:t>：</a:t>
            </a:r>
            <a:r>
              <a:rPr lang="zh-CN"/>
              <a:t>脱贫摘帽不是终点，而是新生活、新奋斗的起点</a:t>
            </a:r>
            <a:r>
              <a:rPr lang="zh-CN"/>
              <a:t>。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2311DRK48C</dc:creator>
  <dcterms:created xsi:type="dcterms:W3CDTF">2025-05-10T22:53:05Z</dcterms:created>
  <dcterms:modified xsi:type="dcterms:W3CDTF">2025-05-12T07:12:02Z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2052-11.1.0.8500</vt:lpwstr>
  </property>
  <property fmtid="{D5CDD505-2E9C-101B-9397-08002B2CF9AE}" pid="3" name="ICV">
    <vt:lpwstr>b6244676f07349dfb75e60026aa4f056_21</vt:lpwstr>
  </property>
</Properties>
</file>